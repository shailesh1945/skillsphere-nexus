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66" r:id="rId12"/>
    <p:sldId id="263" r:id="rId13"/>
    <p:sldId id="267" r:id="rId14"/>
    <p:sldId id="274" r:id="rId15"/>
    <p:sldId id="264" r:id="rId16"/>
    <p:sldId id="265" r:id="rId17"/>
    <p:sldId id="268" r:id="rId18"/>
  </p:sldIdLst>
  <p:sldSz cx="12192000" cy="6858000"/>
  <p:notesSz cx="6858000" cy="12192000"/>
  <p:embeddedFontLst>
    <p:embeddedFont>
      <p:font typeface="Fira Sans" panose="020B0503050000020004" pitchFamily="34" charset="0"/>
      <p:regular r:id="rId20"/>
    </p:embeddedFont>
    <p:embeddedFont>
      <p:font typeface="Fira Sans Bold" panose="020B0803050000020004" charset="0"/>
      <p:regular r:id="rId21"/>
    </p:embeddedFont>
    <p:embeddedFont>
      <p:font typeface="Inconsolata" pitchFamily="1" charset="0"/>
      <p:regular r:id="rId22"/>
    </p:embeddedFont>
    <p:embeddedFont>
      <p:font typeface="Inconsolata Bold" pitchFamily="1" charset="0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3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196" autoAdjust="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4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725B-70CF-1984-FDD4-B94C083C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44354-DB1C-AEFD-35A2-919C85B8E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19DCC-082B-B458-FA0B-661B828F5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536F3-B196-66B1-30BA-8617AB3EA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94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3E2F-2C6F-F814-3C1F-081955E0A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80FFE-4555-7FE2-13CC-42F93D838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9BAB1-346C-24B5-8AA3-0AF210CCF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C30E-39E0-29D6-C8F9-31F16C0F5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21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2E93-F4E1-F595-6021-C14712FB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0AE5D-1223-AEF3-30DD-FDBB83E61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51257-4863-3FA0-E55B-7B1D5D3C6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6A4F-A77B-64B3-3AF4-BC37ADDD5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9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0C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631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5"/>
            <a:ext cx="4571886" cy="68578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2273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SkillSphere Nexus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33360" y="1418431"/>
            <a:ext cx="6296860" cy="4011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Integrated Employee Skill, Learning, Certification &amp; Career Management Platform</a:t>
            </a:r>
            <a:endParaRPr lang="en-US" sz="5050" dirty="0"/>
          </a:p>
        </p:txBody>
      </p:sp>
      <p:sp>
        <p:nvSpPr>
          <p:cNvPr id="5" name="Text 2"/>
          <p:cNvSpPr/>
          <p:nvPr/>
        </p:nvSpPr>
        <p:spPr>
          <a:xfrm>
            <a:off x="5233360" y="5705078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 Members · Shailesh, Gowtham, Rohan, Kodur Prashanth</a:t>
            </a:r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Guide: Vijay Vasanth Sir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19809" y="85"/>
            <a:ext cx="4571886" cy="68578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4" y="430306"/>
            <a:ext cx="1723137" cy="34498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sz="2400" dirty="0"/>
          </a:p>
        </p:txBody>
      </p:sp>
      <p:sp>
        <p:nvSpPr>
          <p:cNvPr id="4" name="Text 1"/>
          <p:cNvSpPr/>
          <p:nvPr/>
        </p:nvSpPr>
        <p:spPr>
          <a:xfrm>
            <a:off x="757119" y="533003"/>
            <a:ext cx="1479910" cy="19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475" y="829072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What Is SkillSphere Nexus?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61475" y="1529259"/>
            <a:ext cx="62968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centralized platform unifying employee skills, learning, certifications, career growth, and internal opportunities — helping employees, HR teams, training managers, and administrators </a:t>
            </a:r>
            <a:r>
              <a:rPr lang="en-US" sz="125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understand, develop, validate, and grow</a:t>
            </a: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talent.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386013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0915" y="2545457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0915" y="2875260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Map employee skills and competencies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404394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20915" y="3563838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Develop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0915" y="3893641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Deliver targeted learning and training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422775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20915" y="4582220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Validate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0915" y="4912023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Track certifications and credentials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441156"/>
            <a:ext cx="6296860" cy="883841"/>
          </a:xfrm>
          <a:prstGeom prst="roundRect">
            <a:avLst>
              <a:gd name="adj" fmla="val 270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20915" y="5600601"/>
            <a:ext cx="59779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Grow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20915" y="5930404"/>
            <a:ext cx="59779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 career planning and internal mobility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338841"/>
            <a:ext cx="1552807" cy="29527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sz="3200"/>
          </a:p>
        </p:txBody>
      </p:sp>
      <p:sp>
        <p:nvSpPr>
          <p:cNvPr id="3" name="Text 1"/>
          <p:cNvSpPr/>
          <p:nvPr/>
        </p:nvSpPr>
        <p:spPr>
          <a:xfrm>
            <a:off x="760090" y="443474"/>
            <a:ext cx="133684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Challenge With Traditional Systems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2805953"/>
            <a:ext cx="5319083" cy="913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Organizations struggle to connect employee skills with learning, certifications, and career opportunities — creating visibility gaps and inefficient talent development.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487" y="3772793"/>
            <a:ext cx="5319083" cy="817136"/>
          </a:xfrm>
          <a:prstGeom prst="roundRect">
            <a:avLst>
              <a:gd name="adj" fmla="val 5773"/>
            </a:avLst>
          </a:prstGeom>
          <a:solidFill>
            <a:srgbClr val="7B0448"/>
          </a:solidFill>
          <a:ln/>
        </p:spPr>
        <p:txBody>
          <a:bodyPr/>
          <a:lstStyle/>
          <a:p>
            <a:endParaRPr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41" y="3843635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838873"/>
            <a:ext cx="4869679" cy="625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Core motivation:</a:t>
            </a:r>
            <a:r>
              <a:rPr lang="en-US" sz="1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HR teams lack a unified system to track, develop,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and grow their workforce effectively.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41884"/>
            <a:ext cx="997520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4879" y="998538"/>
            <a:ext cx="138029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046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78745"/>
            <a:ext cx="378014" cy="3780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243634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Employee Profiles &amp; Skills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947591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Maintain profiles, skill catalogs, proficiency levels, and competency gap analysis.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178745"/>
            <a:ext cx="378014" cy="3780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77383" y="224363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Learning Management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977383" y="2652316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Manage courses, learning paths, enrollment, progress tracking, and certificate generation.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178745"/>
            <a:ext cx="378014" cy="378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79042" y="224363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Certification Tracking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679042" y="2652316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Register professional certifications, track expiry dates, and manage renewals.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32870"/>
            <a:ext cx="378014" cy="3780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42977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Career &amp; Analytics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275723" y="4706441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 career planning, promotion readiness, internal job matching, and HR dashboards.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232870"/>
            <a:ext cx="378014" cy="37802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77383" y="42977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Secure Access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977383" y="4706441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 control via Keycloak for HR, Training Managers, Admins, and Employees.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0328" y="406682"/>
            <a:ext cx="1007069" cy="29527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652138" y="472668"/>
            <a:ext cx="110894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Technology Stack &amp; System Architecture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4F9D6-68D0-3121-ED73-38D73FDAF898}"/>
              </a:ext>
            </a:extLst>
          </p:cNvPr>
          <p:cNvSpPr txBox="1"/>
          <p:nvPr/>
        </p:nvSpPr>
        <p:spPr>
          <a:xfrm>
            <a:off x="6087033" y="1944052"/>
            <a:ext cx="58898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A2367C"/>
                </a:solidFill>
              </a:rPr>
              <a:t>Technology Stack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Frontend:</a:t>
            </a:r>
            <a:r>
              <a:rPr lang="en-IN" dirty="0">
                <a:solidFill>
                  <a:schemeClr val="bg1"/>
                </a:solidFill>
              </a:rPr>
              <a:t> Angular — responsive, component-driven UI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Backend:</a:t>
            </a:r>
            <a:r>
              <a:rPr lang="en-IN" dirty="0">
                <a:solidFill>
                  <a:schemeClr val="bg1"/>
                </a:solidFill>
              </a:rPr>
              <a:t> Spring Boot + REST APIs — modular microservices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Database:</a:t>
            </a:r>
            <a:r>
              <a:rPr lang="en-IN" dirty="0">
                <a:solidFill>
                  <a:schemeClr val="bg1"/>
                </a:solidFill>
              </a:rPr>
              <a:t> PostgreSQL — relational data persistence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Auth:</a:t>
            </a:r>
            <a:r>
              <a:rPr lang="en-IN" dirty="0">
                <a:solidFill>
                  <a:schemeClr val="bg1"/>
                </a:solidFill>
              </a:rPr>
              <a:t> Keycloak — OAuth2, and RBAC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Messaging:</a:t>
            </a:r>
            <a:r>
              <a:rPr lang="en-IN" dirty="0">
                <a:solidFill>
                  <a:schemeClr val="bg1"/>
                </a:solidFill>
              </a:rPr>
              <a:t> Apache Kafka — async event-driven communication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</a:rPr>
              <a:t>The platform follows a </a:t>
            </a:r>
            <a:r>
              <a:rPr lang="en-IN" b="1" dirty="0">
                <a:solidFill>
                  <a:schemeClr val="bg1"/>
                </a:solidFill>
              </a:rPr>
              <a:t>modular, integrated architecture</a:t>
            </a:r>
            <a:r>
              <a:rPr lang="en-IN" dirty="0">
                <a:solidFill>
                  <a:schemeClr val="bg1"/>
                </a:solidFill>
              </a:rPr>
              <a:t> — each milestone operates independently while sharing a unified data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0556"/>
            <a:ext cx="811093" cy="260152"/>
          </a:xfrm>
          <a:prstGeom prst="roundRect">
            <a:avLst>
              <a:gd name="adj" fmla="val 7901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64164" y="691852"/>
            <a:ext cx="1215300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62720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Four-Milestone Project Roadmap</a:t>
            </a:r>
            <a:endParaRPr lang="en-US" sz="3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0772"/>
            <a:ext cx="5434373" cy="685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722" y="2571155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32722" y="2931815"/>
            <a:ext cx="509187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Employee Skill Management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Understand the employee — profiles, skill catalogs, and gap analysis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730772"/>
            <a:ext cx="5434373" cy="6852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7095" y="2571155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267095" y="2931815"/>
            <a:ext cx="509187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Learning Management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Develop the employee — courses, paths, and certificates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886795"/>
            <a:ext cx="5434373" cy="6852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722" y="4727178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32722" y="5087838"/>
            <a:ext cx="509187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Certification Management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Validate the employee — credentials, expiry, and renewals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886795"/>
            <a:ext cx="5434373" cy="6852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7095" y="4727178"/>
            <a:ext cx="509187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4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267095" y="5087838"/>
            <a:ext cx="509187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Career &amp; Analytics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Grow the employee — career plans, internal jobs, and dashboards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61475" y="5956201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milestone builds on the previous, forming a </a:t>
            </a:r>
            <a:r>
              <a:rPr lang="en-US" sz="13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fully connected employee development lifecycle</a:t>
            </a: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2438"/>
            <a:ext cx="1239042" cy="32623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565726" y="557049"/>
            <a:ext cx="1334791" cy="230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9867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Skill Management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7866" y="1310629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1 — Employee Skills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7866" y="1570044"/>
            <a:ext cx="5266300" cy="59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Employee profile &amp; skill catalog management</a:t>
            </a:r>
            <a:endParaRPr lang="en-US" sz="1100" dirty="0">
              <a:solidFill>
                <a:schemeClr val="bg1"/>
              </a:solidFill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Proficiency-level tracking and skill assessments</a:t>
            </a:r>
            <a:endParaRPr lang="en-US" sz="1100" dirty="0">
              <a:solidFill>
                <a:schemeClr val="bg1"/>
              </a:solidFill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Competency mapping and skill-gap analysis</a:t>
            </a:r>
            <a:endParaRPr lang="en-US" sz="1100" dirty="0">
              <a:solidFill>
                <a:schemeClr val="bg1"/>
              </a:solidFill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 via Keycloak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7866" y="2310980"/>
            <a:ext cx="587588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System compares current proficiency with role requirements to identify gaps.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FA963-2992-521E-298B-91A110ED311C}"/>
              </a:ext>
            </a:extLst>
          </p:cNvPr>
          <p:cNvSpPr txBox="1"/>
          <p:nvPr/>
        </p:nvSpPr>
        <p:spPr>
          <a:xfrm>
            <a:off x="3989294" y="7888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B4EB74-54B9-8011-7DC1-A12B8BC0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74" y="3169603"/>
            <a:ext cx="5257800" cy="29571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77843B-B414-F21B-BB34-C002024CA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640" y="3602869"/>
            <a:ext cx="5408290" cy="21451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468A6"/>
                </a:solidFill>
                <a:latin typeface="Fira Sans"/>
              </a:rPr>
              <a:t>MILESTONE 1 •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8FC"/>
                </a:solidFill>
                <a:latin typeface="Inconsolata"/>
              </a:rPr>
              <a:t>Employee Skill Management — Catalog &amp;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DC5DC"/>
                </a:solidFill>
                <a:latin typeface="Fira Sans"/>
              </a:rPr>
              <a:t>The screenshots show the organizational skill catalog and an employee’s current skill profile, including proficiency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972800" cy="32004"/>
          </a:xfrm>
          <a:prstGeom prst="rect">
            <a:avLst/>
          </a:prstGeom>
          <a:solidFill>
            <a:srgbClr val="F4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kills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029968"/>
            <a:ext cx="5157216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4608576"/>
            <a:ext cx="50840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Inconsolata"/>
              </a:rPr>
              <a:t>Skill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956048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DC5DC"/>
                </a:solidFill>
                <a:latin typeface="Fira Sans"/>
              </a:rPr>
              <a:t>Organizational skill catalog showing 7 skills: 5 Technical, 1 Soft Skill, and 1 Management skill. The page supports browsing and adding skills.</a:t>
            </a:r>
          </a:p>
        </p:txBody>
      </p:sp>
      <p:pic>
        <p:nvPicPr>
          <p:cNvPr id="11" name="Picture 10" descr="my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29968"/>
            <a:ext cx="5157216" cy="2487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9944" y="4608576"/>
            <a:ext cx="50840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Inconsolata"/>
              </a:rPr>
              <a:t>My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4956048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DC5DC"/>
                </a:solidFill>
                <a:latin typeface="Fira Sans"/>
              </a:rPr>
              <a:t>Employee skill profile showing 2 assigned skills — Java (8/10) and Spring Boot (5/10) — with proficiency bars and options to add more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468A6"/>
                </a:solidFill>
                <a:latin typeface="Fira Sans"/>
              </a:rPr>
              <a:t>MILESTONE 1 •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8FC"/>
                </a:solidFill>
                <a:latin typeface="Inconsolata"/>
              </a:rPr>
              <a:t>Skill Assessment — Creation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DC5DC"/>
                </a:solidFill>
                <a:latin typeface="Fira Sans"/>
              </a:rPr>
              <a:t>The screenshots show assessment creation for managers and the resulting assessment list with scores, results, and verification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972800" cy="32004"/>
          </a:xfrm>
          <a:prstGeom prst="rect">
            <a:avLst/>
          </a:prstGeom>
          <a:solidFill>
            <a:srgbClr val="F4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eate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029968"/>
            <a:ext cx="5157216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4608576"/>
            <a:ext cx="50840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Inconsolata"/>
              </a:rPr>
              <a:t>Create Skill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956048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DC5DC"/>
                </a:solidFill>
                <a:latin typeface="Fira Sans"/>
              </a:rPr>
              <a:t>Create Skill Assessment lets a manager enter the assessment name and date, select an employee and skill, and record a score from 0–100. Scores of 70% or above are marked PASS.</a:t>
            </a:r>
          </a:p>
        </p:txBody>
      </p:sp>
      <p:pic>
        <p:nvPicPr>
          <p:cNvPr id="11" name="Picture 10" descr="assessmen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29968"/>
            <a:ext cx="5157216" cy="2487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9944" y="4608576"/>
            <a:ext cx="508406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Inconsolata"/>
              </a:rPr>
              <a:t>Skill Assessment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4956048"/>
            <a:ext cx="50840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DC5DC"/>
                </a:solidFill>
                <a:latin typeface="Fira Sans"/>
              </a:rPr>
              <a:t>Assessment results show the assessment name, employee, skill, score, PASS/FAIL result, verification status, and actions such as Verify and Delete.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468A6"/>
                </a:solidFill>
                <a:latin typeface="Fira Sans"/>
              </a:rPr>
              <a:t>MILESTONE 1 •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8FC"/>
                </a:solidFill>
                <a:latin typeface="Inconsolata"/>
              </a:rPr>
              <a:t>My Assessments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5296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DC5DC"/>
                </a:solidFill>
                <a:latin typeface="Fira Sans"/>
              </a:rPr>
              <a:t>Employee-facing assessment screen showing assigned assessments, completion status, scores, and HR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10972800" cy="32004"/>
          </a:xfrm>
          <a:prstGeom prst="rect">
            <a:avLst/>
          </a:prstGeom>
          <a:solidFill>
            <a:srgbClr val="F4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4862535"/>
            <a:ext cx="1032357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Inconsolata"/>
              </a:rPr>
              <a:t>Assessment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405" y="5210007"/>
            <a:ext cx="1032357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DC5DC"/>
                </a:solidFill>
                <a:latin typeface="Fira Sans"/>
              </a:rPr>
              <a:t>The screenshot shows 3 assessments. Completed cards display the assessment date, question count, passing score, employee score, PASS result, and verification status; Java Fundamentals is verified by HR while Spring Boot shows verification pending.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209A05-DA2E-67DA-ACAD-7BA1D9E8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89" y="1865331"/>
            <a:ext cx="5118755" cy="2879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67C6C-494D-1E52-AD9B-5542DB72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923106-F9ED-99D0-3ED4-F3E125A4F12B}"/>
              </a:ext>
            </a:extLst>
          </p:cNvPr>
          <p:cNvSpPr/>
          <p:nvPr/>
        </p:nvSpPr>
        <p:spPr>
          <a:xfrm>
            <a:off x="661474" y="472438"/>
            <a:ext cx="1364549" cy="316455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F9CB8F-FC07-2D09-8E79-15694BAC39A7}"/>
              </a:ext>
            </a:extLst>
          </p:cNvPr>
          <p:cNvSpPr/>
          <p:nvPr/>
        </p:nvSpPr>
        <p:spPr>
          <a:xfrm>
            <a:off x="682272" y="557049"/>
            <a:ext cx="121351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MILESTONES 2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959CAA-7237-BD37-5730-25DFFDB1AAF3}"/>
              </a:ext>
            </a:extLst>
          </p:cNvPr>
          <p:cNvSpPr/>
          <p:nvPr/>
        </p:nvSpPr>
        <p:spPr>
          <a:xfrm>
            <a:off x="661475" y="80763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Learning Management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348EAB-2B28-112F-F139-6582CEADFDB0}"/>
              </a:ext>
            </a:extLst>
          </p:cNvPr>
          <p:cNvSpPr txBox="1"/>
          <p:nvPr/>
        </p:nvSpPr>
        <p:spPr>
          <a:xfrm>
            <a:off x="3989294" y="7888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E49AEE-00A6-D28F-D4AE-18C808729CE7}"/>
              </a:ext>
            </a:extLst>
          </p:cNvPr>
          <p:cNvSpPr/>
          <p:nvPr/>
        </p:nvSpPr>
        <p:spPr>
          <a:xfrm>
            <a:off x="704192" y="133752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2 — Learning Management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F2A0659-374C-5417-3C4A-41C8D246D24B}"/>
              </a:ext>
            </a:extLst>
          </p:cNvPr>
          <p:cNvSpPr/>
          <p:nvPr/>
        </p:nvSpPr>
        <p:spPr>
          <a:xfrm>
            <a:off x="704192" y="1595146"/>
            <a:ext cx="5319083" cy="61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sz="1000">
                <a:solidFill>
                  <a:schemeClr val="bg1"/>
                </a:solidFill>
                <a:latin typeface="Fira Sans"/>
              </a:rPr>
              <a:t>Course and learning path creation
Employee enrollment and progress tracking
Course completion and certificate actions
Learning records and performance reporting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8EEF262-7036-957E-B040-E1D0617D8924}"/>
              </a:ext>
            </a:extLst>
          </p:cNvPr>
          <p:cNvSpPr/>
          <p:nvPr/>
        </p:nvSpPr>
        <p:spPr>
          <a:xfrm>
            <a:off x="704192" y="2284084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000" b="1">
                <a:solidFill>
                  <a:schemeClr val="bg1"/>
                </a:solidFill>
                <a:latin typeface="Fira Sans Bold"/>
              </a:rPr>
              <a:t>Snapshot: 3 courses • 2 enrollments • 1 completion • 50% completion rate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2A7D33-87DB-EFF2-9AEC-5E647F5E71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auto">
          <a:xfrm>
            <a:off x="787917" y="3619319"/>
            <a:ext cx="5236414" cy="2945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5F834B-0AF8-A03A-54C7-DB04F6BB2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001" y="3619319"/>
            <a:ext cx="5234118" cy="2945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0845026-AC54-867E-98F9-F4E1EEC25D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59395" y="1297758"/>
            <a:ext cx="5524110" cy="182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41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2171"/>
            <a:ext cx="1450939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74879" y="758825"/>
            <a:ext cx="18337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MILESTONES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64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Certification Management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2463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3 — Certification Management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208919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sz="1450">
                <a:solidFill>
                  <a:srgbClr val="DAD1E6"/>
                </a:solidFill>
                <a:latin typeface="Fira Sans"/>
              </a:rPr>
              <a:t>Professional certification registration and updates
Dashboard: 6 total · 4 valid · 1 expired
Statuses: VALID, EXPIRED, PENDING_RENEWAL
Renewal warnings, requests, approvals, and audit trail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315098-029D-6C47-F0E1-6C560E224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7314" y="4066476"/>
            <a:ext cx="4404566" cy="23614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DD64A9A-8580-34D7-C190-200BE071F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399" y="3985332"/>
            <a:ext cx="4404566" cy="2477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9E180B-2B04-319A-D248-02831531F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656" y="1732115"/>
            <a:ext cx="5995450" cy="20197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4488-2A63-6C51-8B4A-9DD8276A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E6050E-9E50-ABB5-B12A-4F33A185DCB6}"/>
              </a:ext>
            </a:extLst>
          </p:cNvPr>
          <p:cNvSpPr/>
          <p:nvPr/>
        </p:nvSpPr>
        <p:spPr>
          <a:xfrm>
            <a:off x="661475" y="702171"/>
            <a:ext cx="1450939" cy="287139"/>
          </a:xfrm>
          <a:prstGeom prst="roundRect">
            <a:avLst>
              <a:gd name="adj" fmla="val 7899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791C4E-C7A9-0DD1-926C-F62CF05C6952}"/>
              </a:ext>
            </a:extLst>
          </p:cNvPr>
          <p:cNvSpPr/>
          <p:nvPr/>
        </p:nvSpPr>
        <p:spPr>
          <a:xfrm>
            <a:off x="774879" y="758825"/>
            <a:ext cx="18337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MILESTONES 4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82ADB2-BE3E-73BD-7555-FF912688DE83}"/>
              </a:ext>
            </a:extLst>
          </p:cNvPr>
          <p:cNvSpPr/>
          <p:nvPr/>
        </p:nvSpPr>
        <p:spPr>
          <a:xfrm>
            <a:off x="661475" y="1064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Career Growth</a:t>
            </a:r>
            <a:endParaRPr lang="en-US" sz="3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8A77B5C-7EF1-18A9-D875-36F0755F880C}"/>
              </a:ext>
            </a:extLst>
          </p:cNvPr>
          <p:cNvSpPr/>
          <p:nvPr/>
        </p:nvSpPr>
        <p:spPr>
          <a:xfrm>
            <a:off x="738799" y="17067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Milestone 4 — Career &amp; Analytics</a:t>
            </a:r>
            <a:endParaRPr lang="en-US" sz="18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1362088-374B-DC66-A264-789FE259950B}"/>
              </a:ext>
            </a:extLst>
          </p:cNvPr>
          <p:cNvSpPr/>
          <p:nvPr/>
        </p:nvSpPr>
        <p:spPr>
          <a:xfrm>
            <a:off x="738799" y="2190991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sz="1450">
                <a:solidFill>
                  <a:srgbClr val="DAD1E6"/>
                </a:solidFill>
                <a:latin typeface="Fira Sans"/>
              </a:rPr>
              <a:t>Career plans with current and target roles
Mentor assignment and personalized training plans
Promotion readiness and criteria mapping
Skill-based internal job matching
Dashboard: 2 plans · 2 active · 32.5% average progress · 2 internal jobs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AC4AD7-BF8A-1A47-5A9C-1E5F7C617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157221"/>
            <a:ext cx="4249608" cy="23904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1D55D7-9206-F360-F345-D8A7174F4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044" y="2001980"/>
            <a:ext cx="4666269" cy="1760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A34C7C-3717-0486-11B2-67E9F07EC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143" y="4147535"/>
            <a:ext cx="4249607" cy="239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4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888F0-AE4A-D965-1686-5BF34D80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95470-67EC-44EA-4E4D-353CF84CF200}"/>
              </a:ext>
            </a:extLst>
          </p:cNvPr>
          <p:cNvSpPr txBox="1"/>
          <p:nvPr/>
        </p:nvSpPr>
        <p:spPr>
          <a:xfrm>
            <a:off x="594360" y="320040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F468A6"/>
                </a:solidFill>
                <a:latin typeface="Fira Sans"/>
              </a:rPr>
              <a:t>MILESTONE </a:t>
            </a:r>
            <a:r>
              <a:rPr lang="en-IN" sz="1000" b="0" dirty="0">
                <a:solidFill>
                  <a:srgbClr val="F468A6"/>
                </a:solidFill>
                <a:latin typeface="Fira Sans"/>
              </a:rPr>
              <a:t>4</a:t>
            </a:r>
            <a:r>
              <a:rPr sz="1000" b="0" dirty="0">
                <a:solidFill>
                  <a:srgbClr val="F468A6"/>
                </a:solidFill>
                <a:latin typeface="Fira Sans"/>
              </a:rPr>
              <a:t> • UI WALKTHROUGH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D20A0-4D9C-CFA5-8FE6-4D4CEBBD7B6D}"/>
              </a:ext>
            </a:extLst>
          </p:cNvPr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8FC"/>
                </a:solidFill>
                <a:latin typeface="Inconsolata"/>
              </a:rPr>
              <a:t>Career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A24F5-3B0F-0044-F6DD-B3032290B4BB}"/>
              </a:ext>
            </a:extLst>
          </p:cNvPr>
          <p:cNvSpPr txBox="1"/>
          <p:nvPr/>
        </p:nvSpPr>
        <p:spPr>
          <a:xfrm>
            <a:off x="594360" y="1225296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DC5DC"/>
                </a:solidFill>
                <a:latin typeface="Fira Sans"/>
              </a:rPr>
              <a:t>Career planning gives employees visibility into current and target roles, progress, mentors, training plans, and promotion readiness.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1012-7D15-01A7-C194-E62F726C6CF9}"/>
              </a:ext>
            </a:extLst>
          </p:cNvPr>
          <p:cNvSpPr/>
          <p:nvPr/>
        </p:nvSpPr>
        <p:spPr>
          <a:xfrm>
            <a:off x="594360" y="1664208"/>
            <a:ext cx="10972800" cy="32004"/>
          </a:xfrm>
          <a:prstGeom prst="rect">
            <a:avLst/>
          </a:prstGeom>
          <a:solidFill>
            <a:srgbClr val="F4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E324C-157B-1BAE-D706-337925639AC0}"/>
              </a:ext>
            </a:extLst>
          </p:cNvPr>
          <p:cNvSpPr txBox="1"/>
          <p:nvPr/>
        </p:nvSpPr>
        <p:spPr>
          <a:xfrm>
            <a:off x="941832" y="4626864"/>
            <a:ext cx="1032357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8FC"/>
                </a:solidFill>
                <a:latin typeface="Inconsolata"/>
              </a:rPr>
              <a:t>Career Planning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73263-71C5-6C6D-21B7-7550863EBFF6}"/>
              </a:ext>
            </a:extLst>
          </p:cNvPr>
          <p:cNvSpPr txBox="1"/>
          <p:nvPr/>
        </p:nvSpPr>
        <p:spPr>
          <a:xfrm>
            <a:off x="941832" y="4974336"/>
            <a:ext cx="10323576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CDC5DC"/>
                </a:solidFill>
                <a:latin typeface="Fira Sans"/>
              </a:rPr>
              <a:t>The screenshot shows career plans for employees with current and target roles, progress bars, mentor assignments, training plans, and actions such as setting a target role or deleting a plan.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710856-E326-69DC-110E-7B88BC3F55C7}"/>
              </a:ext>
            </a:extLst>
          </p:cNvPr>
          <p:cNvSpPr txBox="1"/>
          <p:nvPr/>
        </p:nvSpPr>
        <p:spPr>
          <a:xfrm>
            <a:off x="822960" y="634593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EC4FF"/>
                </a:solidFill>
                <a:latin typeface="Fira Sans"/>
              </a:rPr>
              <a:t>This UI supports career planning, progress tracking, mentoring, and preparation for future internal opportunities.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4AF329-8156-64E1-6CC9-C8EC77397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42" y="2026762"/>
            <a:ext cx="4260915" cy="239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95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459300"/>
            <a:ext cx="1573570" cy="355782"/>
          </a:xfrm>
          <a:prstGeom prst="roundRect">
            <a:avLst>
              <a:gd name="adj" fmla="val 7905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3343" y="583944"/>
            <a:ext cx="157357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INTEGRATION &amp;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8351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End-to-End Integration &amp; User Experience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4899"/>
            <a:ext cx="5268588" cy="2879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550229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Unified Platform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61475" y="5745094"/>
            <a:ext cx="5319083" cy="5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 four milestones operate as one connected system. Data flows seamlessly from skill assessment through learning, certification, and career progression — visible through a single </a:t>
            </a:r>
            <a:r>
              <a:rPr lang="en-US" sz="900" b="1" dirty="0">
                <a:solidFill>
                  <a:srgbClr val="DAD1E6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centralized dashboard</a:t>
            </a: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487" y="5523334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Dashboard Highlights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487" y="5718199"/>
            <a:ext cx="5319083" cy="77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Clickable module sections for each domain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access: HR, Training Manager, Admin, Employee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Clear progress indicators and status badges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Integrated view of skills, learning, certifications, and careers</a:t>
            </a:r>
            <a:endParaRPr lang="en-US" sz="9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Easy navigation with consistent UI patterns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02B769-91DE-D396-7273-76186D7D7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112" y="1357460"/>
            <a:ext cx="5194167" cy="2921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1912"/>
            <a:ext cx="1385853" cy="251420"/>
          </a:xfrm>
          <a:prstGeom prst="roundRect">
            <a:avLst>
              <a:gd name="adj" fmla="val 7894"/>
            </a:avLst>
          </a:prstGeom>
          <a:solidFill>
            <a:srgbClr val="4A02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60691" y="581521"/>
            <a:ext cx="17970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SECURITY &amp; FUTURE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411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Security, Future Enhancements &amp; Conclusion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7195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Security &amp; Validation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122686"/>
            <a:ext cx="5232666" cy="1143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Keycloak-based authentication with OAuth2 and SSO</a:t>
            </a:r>
            <a:endParaRPr lang="en-US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Role-based access: HR, Training Manager, Admin, Employee</a:t>
            </a:r>
            <a:endParaRPr lang="en-US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 API validation across all modules</a:t>
            </a:r>
            <a:endParaRPr lang="en-US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Secure, validated access to analytics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7195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Proposed Future Enhancements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2122686"/>
            <a:ext cx="5232666" cy="1741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64160" indent="-264160">
              <a:lnSpc>
                <a:spcPct val="150000"/>
              </a:lnSpc>
              <a:buSzPct val="10000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AI-based Skill and Course Recommendations:</a:t>
            </a:r>
            <a:r>
              <a:rPr lang="en-IN" sz="1400" dirty="0">
                <a:solidFill>
                  <a:schemeClr val="bg1"/>
                </a:solidFill>
              </a:rPr>
              <a:t> Suggest personalized learning paths based on employee skills and career goals.</a:t>
            </a:r>
            <a:r>
              <a:rPr lang="en-US" sz="13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Intelligent</a:t>
            </a:r>
          </a:p>
          <a:p>
            <a:pPr marL="264160" indent="-264160">
              <a:lnSpc>
                <a:spcPct val="150000"/>
              </a:lnSpc>
              <a:buSzPct val="10000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Intelligent Employee-Job Matching:</a:t>
            </a:r>
            <a:r>
              <a:rPr lang="en-IN" sz="1400" dirty="0">
                <a:solidFill>
                  <a:schemeClr val="bg1"/>
                </a:solidFill>
              </a:rPr>
              <a:t> Match employees with suitable internal job opportunities based on their skills and experience.</a:t>
            </a:r>
            <a:endParaRPr lang="en-US" sz="1300" dirty="0">
              <a:solidFill>
                <a:schemeClr val="bg1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264160" indent="-264160">
              <a:lnSpc>
                <a:spcPct val="150000"/>
              </a:lnSpc>
              <a:buSzPct val="10000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Gamification &amp; Rewards:</a:t>
            </a:r>
            <a:r>
              <a:rPr lang="en-IN" sz="1400" dirty="0">
                <a:solidFill>
                  <a:schemeClr val="bg1"/>
                </a:solidFill>
              </a:rPr>
              <a:t> Award EXP points for completing courses and certifications, which users can redeem for rewards and incentives.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FE55-6D77-B2AD-1CC7-9E805D7A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52A4306-A9BE-21D6-294C-C8585CD2ACF5}"/>
              </a:ext>
            </a:extLst>
          </p:cNvPr>
          <p:cNvSpPr/>
          <p:nvPr/>
        </p:nvSpPr>
        <p:spPr>
          <a:xfrm>
            <a:off x="661475" y="8411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BD9B6F-03DC-05E6-BDA5-ED4F05CD9D4C}"/>
              </a:ext>
            </a:extLst>
          </p:cNvPr>
          <p:cNvSpPr/>
          <p:nvPr/>
        </p:nvSpPr>
        <p:spPr>
          <a:xfrm>
            <a:off x="661476" y="1710612"/>
            <a:ext cx="8365984" cy="2187265"/>
          </a:xfrm>
          <a:prstGeom prst="roundRect">
            <a:avLst>
              <a:gd name="adj" fmla="val 2907"/>
            </a:avLst>
          </a:prstGeom>
          <a:solidFill>
            <a:srgbClr val="7B0448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CF52390-10AB-C3C8-8ADA-E67025699F85}"/>
              </a:ext>
            </a:extLst>
          </p:cNvPr>
          <p:cNvSpPr/>
          <p:nvPr/>
        </p:nvSpPr>
        <p:spPr>
          <a:xfrm>
            <a:off x="1198731" y="1923443"/>
            <a:ext cx="7237057" cy="1644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20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SkillSphere Nexus unifies employee development — from skills and learning to certifications and growth — improving visibility, planning, and progression across the career organization.</a:t>
            </a:r>
            <a:endParaRPr lang="en-US" sz="2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1151C16-20C8-323F-80E1-52506EC3644C}"/>
              </a:ext>
            </a:extLst>
          </p:cNvPr>
          <p:cNvSpPr/>
          <p:nvPr/>
        </p:nvSpPr>
        <p:spPr>
          <a:xfrm>
            <a:off x="661475" y="4959507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Thank You</a:t>
            </a:r>
            <a:endParaRPr lang="en-US" sz="4450" dirty="0"/>
          </a:p>
        </p:txBody>
      </p:sp>
    </p:spTree>
    <p:extLst>
      <p:ext uri="{BB962C8B-B14F-4D97-AF65-F5344CB8AC3E}">
        <p14:creationId xmlns:p14="http://schemas.microsoft.com/office/powerpoint/2010/main" val="600301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1146</Words>
  <Application>Microsoft Office PowerPoint</Application>
  <PresentationFormat>Widescreen</PresentationFormat>
  <Paragraphs>139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Inconsolata Bold</vt:lpstr>
      <vt:lpstr>Arial</vt:lpstr>
      <vt:lpstr>Fira Sans</vt:lpstr>
      <vt:lpstr>Fira Sans Bold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Shailesh Khandate</dc:creator>
  <cp:lastModifiedBy>Shailesh Khandate</cp:lastModifiedBy>
  <cp:revision>6</cp:revision>
  <dcterms:created xsi:type="dcterms:W3CDTF">2026-09-15T14:38:15Z</dcterms:created>
  <dcterms:modified xsi:type="dcterms:W3CDTF">2026-09-28T04:35:53Z</dcterms:modified>
</cp:coreProperties>
</file>